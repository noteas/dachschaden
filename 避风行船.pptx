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57" r:id="rId6"/>
    <p:sldId id="261" r:id="rId7"/>
    <p:sldId id="262" r:id="rId8"/>
    <p:sldId id="263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75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.xml"/><Relationship Id="rId4" Type="http://schemas.openxmlformats.org/officeDocument/2006/relationships/tags" Target="../tags/tag67.xml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>
                <a:latin typeface="华文宋体" panose="02010600040101010101" charset="-122"/>
                <a:ea typeface="华文宋体" panose="02010600040101010101" charset="-122"/>
              </a:rPr>
              <a:t>避风行船</a:t>
            </a:r>
            <a:endParaRPr lang="zh-CN" altLang="zh-CN">
              <a:latin typeface="华文宋体" panose="02010600040101010101" charset="-122"/>
              <a:ea typeface="华文宋体" panose="0201060004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>
                <a:latin typeface="华文宋体" panose="02010600040101010101" charset="-122"/>
                <a:ea typeface="华文宋体" panose="02010600040101010101" charset="-122"/>
              </a:rPr>
              <a:t>【北宋】沈括</a:t>
            </a:r>
            <a:endParaRPr lang="zh-CN" altLang="en-US">
              <a:latin typeface="华文宋体" panose="02010600040101010101" charset="-122"/>
              <a:ea typeface="华文宋体" panose="0201060004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占位符 4" descr="Shenkuo"/>
          <p:cNvPicPr>
            <a:picLocks noChangeAspect="1"/>
          </p:cNvPicPr>
          <p:nvPr>
            <p:ph type="pic"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08330" y="1833245"/>
            <a:ext cx="2208530" cy="2625090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half" idx="2"/>
          </p:nvPr>
        </p:nvSpPr>
        <p:spPr>
          <a:xfrm>
            <a:off x="5422265" y="1555115"/>
            <a:ext cx="5975350" cy="4608195"/>
          </a:xfrm>
        </p:spPr>
        <p:txBody>
          <a:bodyPr/>
          <a:p>
            <a:pPr indent="0" algn="l"/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沈括（公元1031—1095年），字存中，北宋科学家、政治家，钱塘（今浙江杭州）人。本文选自他的《梦溪笔谈》，</a:t>
            </a: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  <a:sym typeface="+mn-ea"/>
              </a:rPr>
              <a:t>《梦溪笔谈》</a:t>
            </a: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是一部涉及古代中国自然科学、工艺技术及社会历史现象的综合性笔记体著作。该书在国际亦受重视，英国科学史家李约瑟评价为“中国科学史上的里程碑”。</a:t>
            </a:r>
            <a:endParaRPr lang="zh-CN" altLang="en-US" sz="2400">
              <a:latin typeface="华文宋体" panose="02010600040101010101" charset="-122"/>
              <a:ea typeface="华文宋体" panose="02010600040101010101" charset="-122"/>
              <a:cs typeface="华文宋体" panose="02010600040101010101" charset="-122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宋体" panose="02010600040101010101" charset="-122"/>
                <a:ea typeface="华文宋体" panose="02010600040101010101" charset="-122"/>
              </a:rPr>
              <a:t>作者、写作背景</a:t>
            </a:r>
            <a:endParaRPr lang="zh-CN" altLang="en-US">
              <a:latin typeface="华文宋体" panose="02010600040101010101" charset="-122"/>
              <a:ea typeface="华文宋体" panose="02010600040101010101" charset="-122"/>
            </a:endParaRPr>
          </a:p>
        </p:txBody>
      </p:sp>
      <p:pic>
        <p:nvPicPr>
          <p:cNvPr id="7" name="图片 6" descr="mxb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860" y="1833245"/>
            <a:ext cx="2605405" cy="39998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</a:rPr>
              <a:t>据现可见的最古本元大德刻本，《梦溪笔谈》一共分30卷，其中《笔谈》26卷，《补笔谈》3卷，《续笔谈》1卷。全书有十七目，凡609条。内容涉及天文、数学、物理、化学、生物等各个门类学科，其价值非凡。书中的自然科学部分，总结了中国古代、特别是北宋时期科学成就。社会历史方面，对北宋统治集团的腐朽有所暴露，对西北和北方的军事利害、典制礼仪的演变，旧赋役制度的弊害，都有较为详实的记载。</a:t>
            </a:r>
            <a:endParaRPr lang="zh-CN" altLang="en-US" sz="2400">
              <a:latin typeface="华文宋体" panose="02010600040101010101" charset="-122"/>
              <a:ea typeface="华文宋体" panose="02010600040101010101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608330"/>
            <a:ext cx="10968990" cy="2931160"/>
          </a:xfrm>
        </p:spPr>
        <p:txBody>
          <a:bodyPr>
            <a:noAutofit/>
          </a:bodyPr>
          <a:p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江湖间唯畏大风。</a:t>
            </a:r>
            <a:b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</a:b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冬月风作有渐，船行可以为备；唯盛夏风起于顾盼间，往往罹难。</a:t>
            </a:r>
            <a:b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</a:b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曾闻江国贾人有一术，可免此患。</a:t>
            </a:r>
            <a:b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</a:b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大凡夏月风景，须作于午后，</a:t>
            </a:r>
            <a:b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</a:b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欲行船者，五鼓初起，视星月明洁，四际至地，皆无云气，便可行；至于巳时即止。</a:t>
            </a:r>
            <a:b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</a:b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如此，无复与暴风遇矣。</a:t>
            </a:r>
            <a:b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</a:b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国子博士李元规曰：</a:t>
            </a:r>
            <a:r>
              <a:rPr lang="en-US" altLang="zh-CN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“</a:t>
            </a: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生平游江湖，未尝遇风，用此术。</a:t>
            </a:r>
            <a:r>
              <a:rPr lang="en-US" altLang="zh-CN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”</a:t>
            </a:r>
            <a:endParaRPr lang="en-US" altLang="zh-CN" sz="2400">
              <a:latin typeface="华文宋体" panose="02010600040101010101" charset="-122"/>
              <a:ea typeface="华文宋体" panose="02010600040101010101" charset="-122"/>
              <a:cs typeface="华文宋体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3540125"/>
            <a:ext cx="5487670" cy="2837180"/>
          </a:xfrm>
        </p:spPr>
        <p:txBody>
          <a:bodyPr>
            <a:noAutofit/>
          </a:bodyPr>
          <a:p>
            <a:r>
              <a:rPr lang="zh-CN" altLang="en-US" sz="1600">
                <a:latin typeface="华文宋体" panose="02010600040101010101" charset="-122"/>
                <a:ea typeface="华文宋体" panose="02010600040101010101" charset="-122"/>
              </a:rPr>
              <a:t>冬月：冬季。</a:t>
            </a:r>
            <a:endParaRPr lang="zh-CN" altLang="en-US" sz="1600">
              <a:latin typeface="华文宋体" panose="02010600040101010101" charset="-122"/>
              <a:ea typeface="华文宋体" panose="02010600040101010101" charset="-122"/>
            </a:endParaRPr>
          </a:p>
          <a:p>
            <a:r>
              <a:rPr lang="zh-CN" altLang="en-US" sz="1600">
                <a:latin typeface="华文宋体" panose="02010600040101010101" charset="-122"/>
                <a:ea typeface="华文宋体" panose="02010600040101010101" charset="-122"/>
              </a:rPr>
              <a:t>作：兴起、发作。有渐：渐渐。</a:t>
            </a:r>
            <a:endParaRPr lang="zh-CN" altLang="en-US" sz="1600">
              <a:latin typeface="华文宋体" panose="02010600040101010101" charset="-122"/>
              <a:ea typeface="华文宋体" panose="02010600040101010101" charset="-122"/>
            </a:endParaRPr>
          </a:p>
          <a:p>
            <a:r>
              <a:rPr lang="zh-CN" altLang="en-US" sz="1600">
                <a:latin typeface="华文宋体" panose="02010600040101010101" charset="-122"/>
                <a:ea typeface="华文宋体" panose="02010600040101010101" charset="-122"/>
              </a:rPr>
              <a:t>可以：古今异义，可以凭借。</a:t>
            </a:r>
            <a:endParaRPr lang="zh-CN" altLang="en-US" sz="1600">
              <a:latin typeface="华文宋体" panose="02010600040101010101" charset="-122"/>
              <a:ea typeface="华文宋体" panose="02010600040101010101" charset="-122"/>
            </a:endParaRPr>
          </a:p>
          <a:p>
            <a:r>
              <a:rPr lang="zh-CN" altLang="en-US" sz="1600">
                <a:latin typeface="华文宋体" panose="02010600040101010101" charset="-122"/>
                <a:ea typeface="华文宋体" panose="02010600040101010101" charset="-122"/>
              </a:rPr>
              <a:t>顾盼间：形容时间很短。顾盼，一回头一转眼。</a:t>
            </a:r>
            <a:endParaRPr lang="zh-CN" altLang="en-US" sz="1600">
              <a:latin typeface="华文宋体" panose="02010600040101010101" charset="-122"/>
              <a:ea typeface="华文宋体" panose="02010600040101010101" charset="-122"/>
            </a:endParaRPr>
          </a:p>
          <a:p>
            <a:r>
              <a:rPr lang="zh-CN" altLang="en-US" sz="1600">
                <a:latin typeface="华文宋体" panose="02010600040101010101" charset="-122"/>
                <a:ea typeface="华文宋体" panose="02010600040101010101" charset="-122"/>
              </a:rPr>
              <a:t>罹难：遭遇灾祸。</a:t>
            </a:r>
            <a:r>
              <a:rPr lang="zh-CN" altLang="en-US" sz="1600">
                <a:latin typeface="华文宋体" panose="02010600040101010101" charset="-122"/>
                <a:ea typeface="华文宋体" panose="02010600040101010101" charset="-122"/>
                <a:sym typeface="+mn-ea"/>
              </a:rPr>
              <a:t>罹，遭遇。</a:t>
            </a:r>
            <a:endParaRPr lang="zh-CN" altLang="en-US" sz="1600">
              <a:latin typeface="华文宋体" panose="02010600040101010101" charset="-122"/>
              <a:ea typeface="华文宋体" panose="02010600040101010101" charset="-122"/>
            </a:endParaRPr>
          </a:p>
          <a:p>
            <a:r>
              <a:rPr lang="zh-CN" altLang="en-US" sz="1600">
                <a:latin typeface="华文宋体" panose="02010600040101010101" charset="-122"/>
                <a:ea typeface="华文宋体" panose="02010600040101010101" charset="-122"/>
              </a:rPr>
              <a:t>江国：江河湖泊地区。贾人：商人。</a:t>
            </a:r>
            <a:endParaRPr lang="zh-CN" altLang="en-US" sz="1600">
              <a:latin typeface="华文宋体" panose="02010600040101010101" charset="-122"/>
              <a:ea typeface="华文宋体" panose="02010600040101010101" charset="-122"/>
            </a:endParaRPr>
          </a:p>
          <a:p>
            <a:endParaRPr lang="zh-CN" altLang="en-US" sz="1700">
              <a:latin typeface="华文宋体" panose="02010600040101010101" charset="-122"/>
              <a:ea typeface="华文宋体" panose="02010600040101010101" charset="-122"/>
            </a:endParaRPr>
          </a:p>
          <a:p>
            <a:endParaRPr lang="zh-CN" altLang="en-US" sz="1700">
              <a:latin typeface="华文宋体" panose="02010600040101010101" charset="-122"/>
              <a:ea typeface="华文宋体" panose="02010600040101010101" charset="-122"/>
              <a:sym typeface="+mn-ea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223000" y="3539490"/>
            <a:ext cx="5487670" cy="2837180"/>
          </a:xfrm>
          <a:prstGeom prst="rect">
            <a:avLst/>
          </a:prstGeom>
        </p:spPr>
        <p:txBody>
          <a:bodyPr vert="horz" lIns="90000" tIns="46800" rIns="90000" bIns="46800" rtlCol="0">
            <a:normAutofit fontScale="90000"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华文宋体" panose="02010600040101010101" charset="-122"/>
                <a:ea typeface="华文宋体" panose="02010600040101010101" charset="-122"/>
                <a:sym typeface="+mn-ea"/>
              </a:rPr>
              <a:t>大凡：大要、大概。</a:t>
            </a:r>
            <a:endParaRPr lang="zh-CN" altLang="en-US">
              <a:latin typeface="华文宋体" panose="02010600040101010101" charset="-122"/>
              <a:ea typeface="华文宋体" panose="02010600040101010101" charset="-122"/>
              <a:sym typeface="+mn-ea"/>
            </a:endParaRPr>
          </a:p>
          <a:p>
            <a:r>
              <a:rPr lang="zh-CN" altLang="en-US">
                <a:latin typeface="华文宋体" panose="02010600040101010101" charset="-122"/>
                <a:ea typeface="华文宋体" panose="02010600040101010101" charset="-122"/>
                <a:sym typeface="+mn-ea"/>
              </a:rPr>
              <a:t>风景：古今异义，大风发作的迹象。景，指迹象。</a:t>
            </a:r>
            <a:endParaRPr lang="zh-CN" altLang="en-US">
              <a:latin typeface="华文宋体" panose="02010600040101010101" charset="-122"/>
              <a:ea typeface="华文宋体" panose="02010600040101010101" charset="-122"/>
              <a:sym typeface="+mn-ea"/>
            </a:endParaRPr>
          </a:p>
          <a:p>
            <a:r>
              <a:rPr lang="zh-CN" altLang="en-US">
                <a:latin typeface="华文宋体" panose="02010600040101010101" charset="-122"/>
                <a:ea typeface="华文宋体" panose="02010600040101010101" charset="-122"/>
                <a:sym typeface="+mn-ea"/>
              </a:rPr>
              <a:t>五鼓：五更，指将要天亮之时。</a:t>
            </a:r>
            <a:endParaRPr lang="zh-CN" altLang="en-US">
              <a:latin typeface="华文宋体" panose="02010600040101010101" charset="-122"/>
              <a:ea typeface="华文宋体" panose="02010600040101010101" charset="-122"/>
            </a:endParaRPr>
          </a:p>
          <a:p>
            <a:r>
              <a:rPr lang="zh-CN" altLang="en-US">
                <a:latin typeface="华文宋体" panose="02010600040101010101" charset="-122"/>
                <a:ea typeface="华文宋体" panose="02010600040101010101" charset="-122"/>
                <a:sym typeface="+mn-ea"/>
              </a:rPr>
              <a:t>四际至地：指四方远至地平线以上，天地相接的整个天空。际，交接或靠边的地方。</a:t>
            </a:r>
            <a:endParaRPr lang="zh-CN" altLang="en-US">
              <a:latin typeface="华文宋体" panose="02010600040101010101" charset="-122"/>
              <a:ea typeface="华文宋体" panose="02010600040101010101" charset="-122"/>
            </a:endParaRPr>
          </a:p>
          <a:p>
            <a:r>
              <a:rPr lang="zh-CN" altLang="en-US">
                <a:latin typeface="华文宋体" panose="02010600040101010101" charset="-122"/>
                <a:ea typeface="华文宋体" panose="02010600040101010101" charset="-122"/>
                <a:sym typeface="+mn-ea"/>
              </a:rPr>
              <a:t>巳时：十二时辰之一，相当于上午九到十一时。</a:t>
            </a:r>
            <a:endParaRPr lang="zh-CN" altLang="en-US">
              <a:latin typeface="华文宋体" panose="02010600040101010101" charset="-122"/>
              <a:ea typeface="华文宋体" panose="02010600040101010101" charset="-122"/>
            </a:endParaRPr>
          </a:p>
          <a:p>
            <a:r>
              <a:rPr lang="zh-CN" altLang="en-US">
                <a:latin typeface="华文宋体" panose="02010600040101010101" charset="-122"/>
                <a:ea typeface="华文宋体" panose="02010600040101010101" charset="-122"/>
                <a:sym typeface="+mn-ea"/>
              </a:rPr>
              <a:t>国子博士：国子监博士，官名。</a:t>
            </a:r>
            <a:endParaRPr lang="zh-CN" altLang="en-US">
              <a:latin typeface="华文宋体" panose="02010600040101010101" charset="-122"/>
              <a:ea typeface="华文宋体" panose="0201060004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541510" y="707390"/>
            <a:ext cx="457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lí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608330"/>
            <a:ext cx="10968990" cy="4219575"/>
          </a:xfrm>
        </p:spPr>
        <p:txBody>
          <a:bodyPr>
            <a:noAutofit/>
          </a:bodyPr>
          <a:p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江湖间唯畏大风。冬月风作有渐</a:t>
            </a:r>
            <a:r>
              <a:rPr lang="en-US" altLang="zh-CN" sz="2400" baseline="300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1</a:t>
            </a: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，船行可以为备</a:t>
            </a:r>
            <a:r>
              <a:rPr lang="en-US" altLang="zh-CN" sz="2400" baseline="300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4</a:t>
            </a:r>
            <a:r>
              <a:rPr lang="zh-CN" altLang="en-US" sz="2400" b="0" i="1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省略代词</a:t>
            </a: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；唯盛夏风起于顾盼间</a:t>
            </a:r>
            <a:r>
              <a:rPr lang="en-US" altLang="zh-CN" sz="2400" baseline="300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1</a:t>
            </a: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，往往罹难。</a:t>
            </a:r>
            <a:b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</a:b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曾闻江国贾人有一术，可免此患。</a:t>
            </a:r>
            <a:b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</a:b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大凡夏月风景，须作于午后</a:t>
            </a:r>
            <a:r>
              <a:rPr lang="en-US" altLang="zh-CN" sz="2400" baseline="300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1</a:t>
            </a: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，</a:t>
            </a:r>
            <a:b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</a:b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欲行船者，五鼓初起，视星月明洁，四际至地，皆无云气，便可行；至于巳时即止。</a:t>
            </a:r>
            <a:b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</a:b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如此，无复与暴风遇矣。</a:t>
            </a:r>
            <a:b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</a:b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国子博士李元规曰：</a:t>
            </a:r>
            <a:r>
              <a:rPr lang="en-US" altLang="zh-CN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“</a:t>
            </a: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生平游江湖，未尝遇风，用此术。</a:t>
            </a:r>
            <a:r>
              <a:rPr lang="en-US" altLang="zh-CN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”</a:t>
            </a:r>
            <a:endParaRPr lang="en-US" altLang="zh-CN" sz="2400">
              <a:latin typeface="华文宋体" panose="02010600040101010101" charset="-122"/>
              <a:ea typeface="华文宋体" panose="02010600040101010101" charset="-122"/>
              <a:cs typeface="华文宋体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4828540"/>
            <a:ext cx="5487035" cy="1421130"/>
          </a:xfrm>
        </p:spPr>
        <p:txBody>
          <a:bodyPr>
            <a:noAutofit/>
          </a:bodyPr>
          <a:p>
            <a:r>
              <a:rPr lang="en-US" altLang="zh-CN" baseline="30000">
                <a:latin typeface="华文宋体" panose="02010600040101010101" charset="-122"/>
                <a:ea typeface="华文宋体" panose="02010600040101010101" charset="-122"/>
                <a:sym typeface="+mn-ea"/>
              </a:rPr>
              <a:t>1</a:t>
            </a:r>
            <a:r>
              <a:rPr lang="zh-CN" altLang="en-US">
                <a:latin typeface="华文宋体" panose="02010600040101010101" charset="-122"/>
                <a:ea typeface="华文宋体" panose="02010600040101010101" charset="-122"/>
                <a:sym typeface="+mn-ea"/>
              </a:rPr>
              <a:t>状语后置</a:t>
            </a:r>
            <a:endParaRPr lang="zh-CN" altLang="en-US">
              <a:latin typeface="华文宋体" panose="02010600040101010101" charset="-122"/>
              <a:ea typeface="华文宋体" panose="02010600040101010101" charset="-122"/>
              <a:sym typeface="+mn-ea"/>
            </a:endParaRPr>
          </a:p>
          <a:p>
            <a:r>
              <a:rPr lang="en-US" altLang="zh-CN" baseline="30000">
                <a:latin typeface="华文宋体" panose="02010600040101010101" charset="-122"/>
                <a:ea typeface="华文宋体" panose="02010600040101010101" charset="-122"/>
                <a:sym typeface="+mn-ea"/>
              </a:rPr>
              <a:t>2</a:t>
            </a:r>
            <a:r>
              <a:rPr lang="zh-CN" altLang="en-US">
                <a:latin typeface="华文宋体" panose="02010600040101010101" charset="-122"/>
                <a:ea typeface="华文宋体" panose="02010600040101010101" charset="-122"/>
                <a:sym typeface="+mn-ea"/>
              </a:rPr>
              <a:t>定语后置</a:t>
            </a:r>
            <a:endParaRPr lang="zh-CN" altLang="en-US">
              <a:latin typeface="华文宋体" panose="02010600040101010101" charset="-122"/>
              <a:ea typeface="华文宋体" panose="02010600040101010101" charset="-122"/>
              <a:sym typeface="+mn-ea"/>
            </a:endParaRPr>
          </a:p>
          <a:p>
            <a:r>
              <a:rPr lang="en-US" altLang="zh-CN" baseline="30000">
                <a:latin typeface="华文宋体" panose="02010600040101010101" charset="-122"/>
                <a:ea typeface="华文宋体" panose="02010600040101010101" charset="-122"/>
                <a:sym typeface="+mn-ea"/>
              </a:rPr>
              <a:t>3</a:t>
            </a:r>
            <a:r>
              <a:rPr lang="zh-CN" altLang="en-US">
                <a:latin typeface="华文宋体" panose="02010600040101010101" charset="-122"/>
                <a:ea typeface="华文宋体" panose="02010600040101010101" charset="-122"/>
                <a:sym typeface="+mn-ea"/>
              </a:rPr>
              <a:t>宾语前置</a:t>
            </a:r>
            <a:endParaRPr lang="zh-CN" altLang="en-US">
              <a:latin typeface="华文宋体" panose="02010600040101010101" charset="-122"/>
              <a:ea typeface="华文宋体" panose="02010600040101010101" charset="-122"/>
              <a:sym typeface="+mn-ea"/>
            </a:endParaRPr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222365" y="4828540"/>
            <a:ext cx="5487035" cy="1548130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aseline="30000">
                <a:latin typeface="华文宋体" panose="02010600040101010101" charset="-122"/>
                <a:ea typeface="华文宋体" panose="02010600040101010101" charset="-122"/>
                <a:sym typeface="+mn-ea"/>
              </a:rPr>
              <a:t>4</a:t>
            </a:r>
            <a:r>
              <a:rPr lang="zh-CN" altLang="en-US">
                <a:latin typeface="华文宋体" panose="02010600040101010101" charset="-122"/>
                <a:ea typeface="华文宋体" panose="02010600040101010101" charset="-122"/>
                <a:sym typeface="+mn-ea"/>
              </a:rPr>
              <a:t>省略句</a:t>
            </a:r>
            <a:endParaRPr lang="zh-CN" altLang="en-US">
              <a:latin typeface="华文宋体" panose="02010600040101010101" charset="-122"/>
              <a:ea typeface="华文宋体" panose="02010600040101010101" charset="-122"/>
              <a:sym typeface="+mn-ea"/>
            </a:endParaRPr>
          </a:p>
          <a:p>
            <a:r>
              <a:rPr lang="en-US" altLang="zh-CN" baseline="30000">
                <a:latin typeface="华文宋体" panose="02010600040101010101" charset="-122"/>
                <a:ea typeface="华文宋体" panose="02010600040101010101" charset="-122"/>
                <a:sym typeface="+mn-ea"/>
              </a:rPr>
              <a:t>5</a:t>
            </a:r>
            <a:r>
              <a:rPr lang="zh-CN" altLang="en-US">
                <a:latin typeface="华文宋体" panose="02010600040101010101" charset="-122"/>
                <a:ea typeface="华文宋体" panose="02010600040101010101" charset="-122"/>
                <a:sym typeface="+mn-ea"/>
              </a:rPr>
              <a:t>判断句</a:t>
            </a:r>
            <a:endParaRPr lang="zh-CN" altLang="en-US">
              <a:latin typeface="华文宋体" panose="02010600040101010101" charset="-122"/>
              <a:ea typeface="华文宋体" panose="02010600040101010101" charset="-122"/>
              <a:sym typeface="+mn-ea"/>
            </a:endParaRPr>
          </a:p>
          <a:p>
            <a:r>
              <a:rPr lang="en-US" altLang="zh-CN" baseline="30000">
                <a:latin typeface="华文宋体" panose="02010600040101010101" charset="-122"/>
                <a:ea typeface="华文宋体" panose="02010600040101010101" charset="-122"/>
                <a:sym typeface="+mn-ea"/>
              </a:rPr>
              <a:t>6</a:t>
            </a:r>
            <a:r>
              <a:rPr lang="zh-CN" altLang="en-US">
                <a:latin typeface="华文宋体" panose="02010600040101010101" charset="-122"/>
                <a:ea typeface="华文宋体" panose="02010600040101010101" charset="-122"/>
                <a:sym typeface="+mn-ea"/>
              </a:rPr>
              <a:t>被动句</a:t>
            </a:r>
            <a:endParaRPr lang="zh-CN" altLang="en-US">
              <a:latin typeface="华文宋体" panose="02010600040101010101" charset="-122"/>
              <a:ea typeface="华文宋体" panose="02010600040101010101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330" y="608330"/>
            <a:ext cx="10968990" cy="2931160"/>
          </a:xfrm>
        </p:spPr>
        <p:txBody>
          <a:bodyPr>
            <a:noAutofit/>
          </a:bodyPr>
          <a:p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江湖间唯畏大风。</a:t>
            </a:r>
            <a:b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</a:b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冬月风作有渐，船行可以为备；唯盛夏风起于顾盼间，往往罹难。</a:t>
            </a:r>
            <a:b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</a:b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曾闻江国贾人有一术，可免此患。</a:t>
            </a:r>
            <a:b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</a:b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大凡夏月风景，须作于午后，</a:t>
            </a:r>
            <a:b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</a:b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欲行船者，五鼓初起，视星月明洁，四际至地，皆无云气，便可行；至于巳时即止。</a:t>
            </a:r>
            <a:b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</a:b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如此，无复与暴风遇矣。</a:t>
            </a:r>
            <a:b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</a:b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国子博士李元规曰：</a:t>
            </a:r>
            <a:r>
              <a:rPr lang="en-US" altLang="zh-CN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“</a:t>
            </a: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生平游江湖，未尝遇风，用此术。</a:t>
            </a:r>
            <a:r>
              <a:rPr lang="en-US" altLang="zh-CN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”</a:t>
            </a:r>
            <a:endParaRPr lang="en-US" altLang="zh-CN" sz="2400">
              <a:latin typeface="华文宋体" panose="02010600040101010101" charset="-122"/>
              <a:ea typeface="华文宋体" panose="02010600040101010101" charset="-122"/>
              <a:cs typeface="华文宋体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3540125"/>
            <a:ext cx="10969625" cy="2709545"/>
          </a:xfrm>
        </p:spPr>
        <p:txBody>
          <a:bodyPr>
            <a:noAutofit/>
          </a:bodyPr>
          <a:p>
            <a:r>
              <a:rPr lang="zh-CN" altLang="en-US">
                <a:latin typeface="华文宋体" panose="02010600040101010101" charset="-122"/>
                <a:ea typeface="华文宋体" panose="02010600040101010101" charset="-122"/>
                <a:sym typeface="+mn-ea"/>
              </a:rPr>
              <a:t>在江河上行船最怕遇到大风。冬天起风时风力由小渐渐变大，在行船时可以提前有所准备；但是盛夏的风一转眼就刮起来了，常常使行舟的人遭遇灾难。曾经听说江南的商人有一种行船方法，</a:t>
            </a:r>
            <a:r>
              <a:rPr lang="zh-CN" altLang="en-US">
                <a:latin typeface="华文宋体" panose="02010600040101010101" charset="-122"/>
                <a:ea typeface="华文宋体" panose="02010600040101010101" charset="-122"/>
                <a:sym typeface="+mn-ea"/>
              </a:rPr>
              <a:t>可以避免这种灾难</a:t>
            </a:r>
            <a:r>
              <a:rPr lang="zh-CN" altLang="en-US">
                <a:latin typeface="华文宋体" panose="02010600040101010101" charset="-122"/>
                <a:ea typeface="华文宋体" panose="02010600040101010101" charset="-122"/>
                <a:sym typeface="+mn-ea"/>
              </a:rPr>
              <a:t>。</a:t>
            </a:r>
            <a:endParaRPr lang="zh-CN" altLang="en-US">
              <a:latin typeface="华文宋体" panose="02010600040101010101" charset="-122"/>
              <a:ea typeface="华文宋体" panose="02010600040101010101" charset="-122"/>
              <a:sym typeface="+mn-ea"/>
            </a:endParaRPr>
          </a:p>
          <a:p>
            <a:r>
              <a:rPr lang="zh-CN" altLang="en-US">
                <a:latin typeface="华文宋体" panose="02010600040101010101" charset="-122"/>
                <a:ea typeface="华文宋体" panose="02010600040101010101" charset="-122"/>
                <a:sym typeface="+mn-ea"/>
              </a:rPr>
              <a:t>一般来说夏天午后起风，想要行船的人，在五更天就起来，若是星月清晰可见，天地四周没有云气升起，可以出行，到巳时就靠岸。这样就可以避免遇到暴风了。国子监博士李元规说：“我一生在江河湖海中行走，从来没有遇到大风，用的就是这个方法。”</a:t>
            </a:r>
            <a:endParaRPr lang="zh-CN" altLang="en-US">
              <a:latin typeface="华文宋体" panose="02010600040101010101" charset="-122"/>
              <a:ea typeface="华文宋体" panose="02010600040101010101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541510" y="707390"/>
            <a:ext cx="457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lí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latin typeface="华文宋体" panose="02010600040101010101" charset="-122"/>
                <a:ea typeface="华文宋体" panose="02010600040101010101" charset="-122"/>
              </a:rPr>
              <a:t>启示</a:t>
            </a:r>
            <a:endParaRPr lang="zh-CN" altLang="en-US">
              <a:latin typeface="华文宋体" panose="02010600040101010101" charset="-122"/>
              <a:ea typeface="华文宋体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作者引用江国贾人和李元规的话来作论据，有名有姓，由此可见作者严谨科学的治学态度。</a:t>
            </a:r>
            <a:endParaRPr lang="zh-CN" altLang="en-US" sz="2400">
              <a:latin typeface="华文宋体" panose="02010600040101010101" charset="-122"/>
              <a:ea typeface="华文宋体" panose="02010600040101010101" charset="-122"/>
              <a:cs typeface="华文宋体" panose="02010600040101010101" charset="-122"/>
            </a:endParaRPr>
          </a:p>
          <a:p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经验是在实践中产生的，是客观事物在人们头脑中的反映，是认识的开端。经验一般而言是有效的，但孔子曾经说过：</a:t>
            </a:r>
            <a:r>
              <a:rPr lang="en-US" altLang="zh-CN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“</a:t>
            </a: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知其然，知其所以然</a:t>
            </a:r>
            <a:r>
              <a:rPr lang="en-US" altLang="zh-CN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”</a:t>
            </a:r>
            <a:r>
              <a:rPr lang="zh-CN" altLang="en-US" sz="2400">
                <a:latin typeface="华文宋体" panose="02010600040101010101" charset="-122"/>
                <a:ea typeface="华文宋体" panose="02010600040101010101" charset="-122"/>
                <a:cs typeface="华文宋体" panose="02010600040101010101" charset="-122"/>
              </a:rPr>
              <a:t>，因此将经验上升到背后的理论是更加重要的。总之，不能迷信经验，否则经验就是你日后的绊脚石，会成为你未来进步的最大阻碍。</a:t>
            </a:r>
            <a:endParaRPr lang="zh-CN" altLang="en-US" sz="2400">
              <a:latin typeface="华文宋体" panose="02010600040101010101" charset="-122"/>
              <a:ea typeface="华文宋体" panose="02010600040101010101" charset="-122"/>
              <a:cs typeface="华文宋体" panose="02010600040101010101" charset="-122"/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PLACING_PICTURE_USER_VIEWPORT" val="{&quot;height&quot;:4134,&quot;width&quot;:3478}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5.xml><?xml version="1.0" encoding="utf-8"?>
<p:tagLst xmlns:p="http://schemas.openxmlformats.org/presentationml/2006/main">
  <p:tag name="COMMONDATA" val="eyJoZGlkIjoiOWFiZGU2NDc3OWFlNTkwZDU4NTNmZjUyOGMwNTZjMDAifQ=="/>
  <p:tag name="KSO_WPP_MARK_KEY" val="87fbd642-836b-4c2a-83db-c95b7cd2bdd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1380</Words>
  <Application>WPS 演示</Application>
  <PresentationFormat>宽屏</PresentationFormat>
  <Paragraphs>52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华文宋体</vt:lpstr>
      <vt:lpstr>微软雅黑</vt:lpstr>
      <vt:lpstr>Arial Unicode MS</vt:lpstr>
      <vt:lpstr>Calibri</vt:lpstr>
      <vt:lpstr>Office 主题​​</vt:lpstr>
      <vt:lpstr>避风行船</vt:lpstr>
      <vt:lpstr>作者、背景</vt:lpstr>
      <vt:lpstr>PowerPoint 演示文稿</vt:lpstr>
      <vt:lpstr>江湖间唯畏大风。 冬月风作有渐，船行可以为备；唯盛夏风起于顾盼间，往往罹难。 曾闻江国贾人有一术，可免此患。 大凡夏月风景，须作于午后， 欲行船者，五鼓初起，视星月明洁，四际至地，皆无云气，便可行；至于巳时即止。 如此，无复与暴风遇矣。 国子博士李元规曰：“生平游江湖，未尝遇风，用此术。”</vt:lpstr>
      <vt:lpstr>江湖间唯畏大风。4省略“行船” 冬月风作有渐1，船行可以为备34省略状语“在……的时候”；唯盛夏风起于顾盼间1，往往罹难。 曾闻江国贾人有一术，可免此患。 大凡夏月风景，须作于午后1， 欲行船者，五鼓初起，视星月明洁，四际至地，皆无云气，便可行；至于巳时即止。 如此，无复与暴风遇矣。 国子博士李元规曰：“生平游江湖4省略主语“我”，未尝遇风，用此术。”</vt:lpstr>
      <vt:lpstr>江湖间唯畏大风。 冬月风作有渐，船行可以为备；唯盛夏风起于顾盼间，往往罹难。 曾闻江国贾人有一术，可免此患。 大凡夏月风景，须作于午后， 欲行船者，五鼓初起，视星月明洁，四际至地，皆无云气，便可行；至于巳时即止。 如此，无复与暴风遇矣。 国子博士李元规曰：“生平游江湖，未尝遇风，用此术。”</vt:lpstr>
      <vt:lpstr>启示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丁大侠</cp:lastModifiedBy>
  <cp:revision>181</cp:revision>
  <dcterms:created xsi:type="dcterms:W3CDTF">2019-06-19T02:08:00Z</dcterms:created>
  <dcterms:modified xsi:type="dcterms:W3CDTF">2023-04-01T15:42:31Z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ICV">
    <vt:lpwstr>399A0CFAD31F48BEAC21E3F03D234D19</vt:lpwstr>
  </property>
</Properties>
</file>