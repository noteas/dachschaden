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71" r:id="rId13"/>
    <p:sldId id="276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陆贽论人才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52060" y="2055495"/>
            <a:ext cx="5962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zhì</a:t>
            </a:r>
            <a:endParaRPr lang="zh-C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/>
              <a:t>陆贽</a:t>
            </a:r>
            <a:r>
              <a:rPr lang="zh-CN" altLang="en-US"/>
              <a:t>：唐朝德宗时人，官至宰相，他对人才的见解很辩证。他认为德才兼备的人不多，且人各有短长，因此主张取长补短。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人之</a:t>
            </a:r>
            <a:r>
              <a:rPr lang="zh-CN" altLang="en-US" b="1">
                <a:sym typeface="+mn-ea"/>
              </a:rPr>
              <a:t>才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（才华）</a:t>
            </a:r>
            <a:r>
              <a:rPr lang="zh-CN" altLang="en-US" b="1" u="sng">
                <a:sym typeface="+mn-ea"/>
              </a:rPr>
              <a:t>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（品德）</a:t>
            </a:r>
            <a:r>
              <a:rPr lang="zh-CN" altLang="en-US">
                <a:sym typeface="+mn-ea"/>
              </a:rPr>
              <a:t>，自昔罕全，苟有所</a:t>
            </a:r>
            <a:r>
              <a:rPr lang="zh-CN" altLang="en-US" b="1">
                <a:sym typeface="+mn-ea"/>
              </a:rPr>
              <a:t>长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（善长）</a:t>
            </a:r>
            <a:r>
              <a:rPr lang="zh-CN" altLang="en-US">
                <a:sym typeface="+mn-ea"/>
              </a:rPr>
              <a:t>，必有所</a:t>
            </a:r>
            <a:r>
              <a:rPr lang="zh-CN" altLang="en-US" b="1">
                <a:sym typeface="+mn-ea"/>
              </a:rPr>
              <a:t>短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（欠缺，不善长）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翻译：人的才华和品德，从以前开始就很少有全才的，如果有所善长的，就一定有欠缺的地方。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若</a:t>
            </a:r>
            <a:r>
              <a:rPr lang="zh-CN" altLang="en-US" b="1" u="sng">
                <a:sym typeface="+mn-ea"/>
              </a:rPr>
              <a:t>录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（录用）</a:t>
            </a:r>
            <a:r>
              <a:rPr lang="zh-CN" altLang="en-US">
                <a:sym typeface="+mn-ea"/>
              </a:rPr>
              <a:t>长补短，则天下无不用</a:t>
            </a:r>
            <a:r>
              <a:rPr lang="zh-CN" altLang="en-US" b="1" u="sng">
                <a:sym typeface="+mn-ea"/>
              </a:rPr>
              <a:t>之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（之：结构助词，的）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人</a:t>
            </a:r>
            <a:r>
              <a:rPr lang="zh-CN" altLang="en-US">
                <a:sym typeface="+mn-ea"/>
              </a:rPr>
              <a:t>；</a:t>
            </a:r>
            <a:r>
              <a:rPr lang="zh-CN" altLang="en-US" b="1" u="sng">
                <a:sym typeface="+mn-ea"/>
              </a:rPr>
              <a:t>责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（苛求）</a:t>
            </a:r>
            <a:r>
              <a:rPr lang="zh-CN" altLang="en-US">
                <a:sym typeface="+mn-ea"/>
              </a:rPr>
              <a:t>短舍长，则天下无不弃之士。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翻译：如果能取长补短，那么天下就没有不能被录用的人；苛求短处放弃长处，那么天下就没有可以被录用的人。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加以情有爱憎，</a:t>
            </a:r>
            <a:r>
              <a:rPr lang="zh-CN" altLang="en-US" b="1" u="sng"/>
              <a:t>趣</a:t>
            </a:r>
            <a:r>
              <a:rPr lang="zh-CN" altLang="en-US">
                <a:solidFill>
                  <a:srgbClr val="FF0000"/>
                </a:solidFill>
              </a:rPr>
              <a:t>（志趣）</a:t>
            </a:r>
            <a:r>
              <a:rPr lang="zh-CN" altLang="en-US"/>
              <a:t>有异同，假使圣如</a:t>
            </a:r>
            <a:r>
              <a:rPr lang="zh-CN" altLang="en-US" b="1" u="sng"/>
              <a:t>伊、周</a:t>
            </a:r>
            <a:r>
              <a:rPr lang="zh-CN" altLang="en-US"/>
              <a:t>（</a:t>
            </a:r>
            <a:r>
              <a:rPr lang="zh-CN" altLang="en-US">
                <a:solidFill>
                  <a:srgbClr val="FF0000"/>
                </a:solidFill>
              </a:rPr>
              <a:t>指伊尹、周文王）</a:t>
            </a:r>
            <a:r>
              <a:rPr lang="zh-CN" altLang="en-US"/>
              <a:t>，贤如</a:t>
            </a:r>
            <a:r>
              <a:rPr lang="zh-CN" altLang="en-US" b="1"/>
              <a:t>墨、杨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指墨翟、杨朱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r>
              <a:rPr lang="zh-CN" altLang="en-US"/>
              <a:t>，</a:t>
            </a:r>
            <a:r>
              <a:rPr lang="zh-CN" altLang="en-US" b="1" u="sng"/>
              <a:t>求诸物议</a:t>
            </a:r>
            <a:r>
              <a:rPr lang="zh-CN" altLang="en-US">
                <a:solidFill>
                  <a:srgbClr val="FF0000"/>
                </a:solidFill>
              </a:rPr>
              <a:t>（以众人的议论去要求他们。</a:t>
            </a:r>
            <a:r>
              <a:rPr lang="zh-CN" altLang="en-US" b="1" u="sng">
                <a:solidFill>
                  <a:srgbClr val="FF0000"/>
                </a:solidFill>
              </a:rPr>
              <a:t>物议</a:t>
            </a:r>
            <a:r>
              <a:rPr lang="zh-CN" altLang="en-US">
                <a:solidFill>
                  <a:srgbClr val="FF0000"/>
                </a:solidFill>
              </a:rPr>
              <a:t>，众人的议论，多指非议）</a:t>
            </a:r>
            <a:r>
              <a:rPr lang="zh-CN" altLang="en-US" b="1" u="sng"/>
              <a:t>孰免讥嫌</a:t>
            </a:r>
            <a:r>
              <a:rPr lang="zh-CN" altLang="en-US"/>
              <a:t>（</a:t>
            </a:r>
            <a:r>
              <a:rPr lang="zh-CN" altLang="en-US">
                <a:solidFill>
                  <a:srgbClr val="FF0000"/>
                </a:solidFill>
              </a:rPr>
              <a:t>谁免得了（被众人）嫌比或讥讽）</a:t>
            </a:r>
            <a:r>
              <a:rPr lang="zh-CN" altLang="en-US"/>
              <a:t>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翻译：再加上感情有爱恨之分，志趣有所不同，如果圣明得像伊尹、周文王，贤德像墨翟、杨朱，以众人的议论去要求他们，谁能避免被讥笑？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昔子贡问于</a:t>
            </a:r>
            <a:r>
              <a:rPr lang="zh-CN" altLang="en-US">
                <a:solidFill>
                  <a:srgbClr val="FF0000"/>
                </a:solidFill>
              </a:rPr>
              <a:t>（向）</a:t>
            </a:r>
            <a:r>
              <a:rPr lang="zh-CN" altLang="en-US"/>
              <a:t>孔子</a:t>
            </a:r>
            <a:r>
              <a:rPr lang="zh-CN" altLang="en-US" b="1">
                <a:solidFill>
                  <a:srgbClr val="FF0000"/>
                </a:solidFill>
              </a:rPr>
              <a:t>（状语后置）</a:t>
            </a:r>
            <a:r>
              <a:rPr lang="zh-CN" altLang="en-US"/>
              <a:t>曰：“乡人皆</a:t>
            </a:r>
            <a:r>
              <a:rPr lang="zh-CN" altLang="en-US" b="1"/>
              <a:t>好</a:t>
            </a:r>
            <a:r>
              <a:rPr lang="zh-CN" altLang="en-US">
                <a:solidFill>
                  <a:srgbClr val="FF0000"/>
                </a:solidFill>
              </a:rPr>
              <a:t>（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赞扬）</a:t>
            </a:r>
            <a:r>
              <a:rPr lang="zh-CN" altLang="en-US" b="1"/>
              <a:t>之</a:t>
            </a:r>
            <a:r>
              <a:rPr lang="zh-CN" altLang="en-US">
                <a:solidFill>
                  <a:srgbClr val="FF0000"/>
                </a:solidFill>
              </a:rPr>
              <a:t>（代词，他）</a:t>
            </a:r>
            <a:r>
              <a:rPr lang="zh-CN" altLang="en-US"/>
              <a:t>，何如？</a:t>
            </a:r>
            <a:r>
              <a:rPr lang="zh-CN" altLang="en-US" b="1">
                <a:solidFill>
                  <a:srgbClr val="FF0000"/>
                </a:solidFill>
              </a:rPr>
              <a:t>（宾语前置）</a:t>
            </a:r>
            <a:r>
              <a:rPr lang="zh-CN" altLang="en-US"/>
              <a:t>”子曰：“</a:t>
            </a:r>
            <a:r>
              <a:rPr lang="zh-CN" altLang="en-US" b="1"/>
              <a:t>未可也</a:t>
            </a:r>
            <a:r>
              <a:rPr lang="zh-CN" altLang="en-US">
                <a:solidFill>
                  <a:srgbClr val="FF0000"/>
                </a:solidFill>
              </a:rPr>
              <a:t>（不能肯定）</a:t>
            </a:r>
            <a:r>
              <a:rPr lang="zh-CN" altLang="en-US"/>
              <a:t>。”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翻译： 从前子贡向孔子提问：“全乡村的人都赞扬他，怎么样？”孔子说：“不能肯定。”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“乡人皆恶之，何如？”子曰：“未可也。不如乡人之</a:t>
            </a:r>
            <a:r>
              <a:rPr lang="zh-CN" altLang="en-US" b="1" u="sng">
                <a:sym typeface="+mn-ea"/>
              </a:rPr>
              <a:t>善者</a:t>
            </a:r>
            <a:r>
              <a:rPr lang="zh-CN" altLang="en-US" u="sng">
                <a:solidFill>
                  <a:srgbClr val="FF0000"/>
                </a:solidFill>
                <a:sym typeface="+mn-ea"/>
              </a:rPr>
              <a:t>（好人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）</a:t>
            </a:r>
            <a:r>
              <a:rPr lang="zh-CN" altLang="en-US" b="1">
                <a:sym typeface="+mn-ea"/>
              </a:rPr>
              <a:t>好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（喜欢）</a:t>
            </a:r>
            <a:r>
              <a:rPr lang="zh-CN" altLang="en-US">
                <a:sym typeface="+mn-ea"/>
              </a:rPr>
              <a:t>之，其</a:t>
            </a:r>
            <a:r>
              <a:rPr lang="zh-CN" altLang="en-US" b="1" u="sng">
                <a:sym typeface="+mn-ea"/>
              </a:rPr>
              <a:t>不善者</a:t>
            </a:r>
            <a:r>
              <a:rPr lang="zh-CN" altLang="en-US" u="sng">
                <a:solidFill>
                  <a:srgbClr val="FF0000"/>
                </a:solidFill>
                <a:sym typeface="+mn-ea"/>
              </a:rPr>
              <a:t>（坏人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）</a:t>
            </a:r>
            <a:r>
              <a:rPr lang="zh-CN" altLang="en-US">
                <a:sym typeface="+mn-ea"/>
              </a:rPr>
              <a:t>恶之。”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翻译：“全乡村的人都讨厌他，怎么样？“孔子说：“不能肯定。不如全乡人中的好人喜欢他，坏人厌恶他。”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 </a:t>
            </a:r>
            <a:r>
              <a:rPr lang="zh-CN" altLang="en-US" b="1"/>
              <a:t>盖</a:t>
            </a:r>
            <a:r>
              <a:rPr lang="zh-CN" altLang="en-US">
                <a:solidFill>
                  <a:srgbClr val="FF0000"/>
                </a:solidFill>
              </a:rPr>
              <a:t>（原来）</a:t>
            </a:r>
            <a:r>
              <a:rPr lang="zh-CN" altLang="en-US" b="1"/>
              <a:t>以</a:t>
            </a:r>
            <a:r>
              <a:rPr lang="zh-CN" altLang="en-US">
                <a:solidFill>
                  <a:srgbClr val="FF0000"/>
                </a:solidFill>
              </a:rPr>
              <a:t>（因为）</a:t>
            </a:r>
            <a:r>
              <a:rPr lang="zh-CN" altLang="en-US"/>
              <a:t>君子小人</a:t>
            </a:r>
            <a:r>
              <a:rPr lang="zh-CN" altLang="en-US" b="1"/>
              <a:t>意</a:t>
            </a:r>
            <a:r>
              <a:rPr lang="zh-CN" altLang="en-US">
                <a:solidFill>
                  <a:srgbClr val="FF0000"/>
                </a:solidFill>
              </a:rPr>
              <a:t>（行事）</a:t>
            </a:r>
            <a:r>
              <a:rPr lang="zh-CN" altLang="en-US"/>
              <a:t>必相反，其在小人</a:t>
            </a:r>
            <a:r>
              <a:rPr lang="zh-CN" altLang="en-US" b="1"/>
              <a:t>之</a:t>
            </a:r>
            <a:r>
              <a:rPr lang="zh-CN" altLang="en-US">
                <a:solidFill>
                  <a:srgbClr val="FF0000"/>
                </a:solidFill>
              </a:rPr>
              <a:t>（之：主谓间取消句子独立性）</a:t>
            </a:r>
            <a:r>
              <a:rPr lang="zh-CN" altLang="en-US"/>
              <a:t>恶君子，亦如君子</a:t>
            </a:r>
            <a:r>
              <a:rPr lang="zh-CN" altLang="en-US" b="1"/>
              <a:t>之</a:t>
            </a:r>
            <a:r>
              <a:rPr lang="zh-CN" altLang="en-US"/>
              <a:t>恶小人。</a:t>
            </a:r>
            <a:r>
              <a:rPr lang="zh-CN" altLang="en-US">
                <a:sym typeface="+mn-ea"/>
              </a:rPr>
              <a:t>将察其情，在审其听。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翻译：原来是因为君子和小人行事必定不同，就好像小人讨厌君子，也像君子讨厌小人，要认真调查清楚实情，（关键）在于慎重地选择听信（的人）。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听君子则小人</a:t>
            </a:r>
            <a:r>
              <a:rPr lang="zh-CN" altLang="en-US" b="1"/>
              <a:t>道</a:t>
            </a:r>
            <a:r>
              <a:rPr lang="zh-CN" altLang="en-US">
                <a:solidFill>
                  <a:srgbClr val="FF0000"/>
                </a:solidFill>
              </a:rPr>
              <a:t>（品行）</a:t>
            </a:r>
            <a:r>
              <a:rPr lang="zh-CN" altLang="en-US" b="1"/>
              <a:t>废</a:t>
            </a:r>
            <a:r>
              <a:rPr lang="zh-CN" altLang="en-US">
                <a:solidFill>
                  <a:srgbClr val="FF0000"/>
                </a:solidFill>
              </a:rPr>
              <a:t>（废除）</a:t>
            </a:r>
            <a:r>
              <a:rPr lang="zh-CN" altLang="en-US"/>
              <a:t>，听小人则君子道</a:t>
            </a:r>
            <a:r>
              <a:rPr lang="zh-CN" altLang="en-US" b="1"/>
              <a:t>消</a:t>
            </a:r>
            <a:r>
              <a:rPr lang="zh-CN" altLang="en-US">
                <a:solidFill>
                  <a:srgbClr val="FF0000"/>
                </a:solidFill>
              </a:rPr>
              <a:t>（消失）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翻译：听有道德的人的话那么没道德的人的品行就会废除，听没道德的人的话那么有道德的人的品行就会消失。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b="1">
                <a:sym typeface="+mn-ea"/>
              </a:rPr>
              <a:t>行文脉络：</a:t>
            </a:r>
            <a:r>
              <a:rPr lang="zh-CN" altLang="en-US">
                <a:sym typeface="+mn-ea"/>
              </a:rPr>
              <a:t>陆贽在选文中用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“人之才行，自昔罕全”</a:t>
            </a:r>
            <a:r>
              <a:rPr lang="zh-CN" altLang="en-US">
                <a:sym typeface="+mn-ea"/>
              </a:rPr>
              <a:t>对人的 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“才行”</a:t>
            </a:r>
            <a:r>
              <a:rPr lang="zh-CN" altLang="en-US">
                <a:sym typeface="+mn-ea"/>
              </a:rPr>
              <a:t>作了阐释，他认为 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苟有所长，必有所短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；用人要做到 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对人才不能过于苛求；</a:t>
            </a:r>
            <a:r>
              <a:rPr lang="zh-CN" altLang="en-US">
                <a:sym typeface="+mn-ea"/>
              </a:rPr>
              <a:t>在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道理论证</a:t>
            </a:r>
            <a:r>
              <a:rPr lang="zh-CN" altLang="en-US">
                <a:sym typeface="+mn-ea"/>
              </a:rPr>
              <a:t>这一观点后，作者又运用了 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举例论证</a:t>
            </a:r>
            <a:r>
              <a:rPr lang="zh-CN" altLang="en-US">
                <a:sym typeface="+mn-ea"/>
              </a:rPr>
              <a:t>方法，用 孔子、子贡关于如何用人对话对此观点进行了论证。</a:t>
            </a:r>
            <a:endParaRPr lang="zh-CN" altLang="en-US"/>
          </a:p>
          <a:p>
            <a:pPr lvl="0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b="1"/>
              <a:t>观点：</a:t>
            </a:r>
            <a:r>
              <a:rPr lang="zh-CN" altLang="en-US"/>
              <a:t>陆贽认为德才兼备的人不多，且人各有短长，因此应录长补短，他对人才的这种见解是很辩证的。</a:t>
            </a:r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zh-CN" altLang="en-US" b="1"/>
              <a:t>运用：</a:t>
            </a:r>
            <a:r>
              <a:rPr lang="zh-CN" altLang="en-US"/>
              <a:t>人无完人，善于发挥人的优点，合适的人放在适当的位置上，优点与缺点等主题适用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06755"/>
            <a:ext cx="10515600" cy="566039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/>
              <a:t>人的才华和品德，从以前开始就很少有全才的，如果有所善长的，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就一定有欠缺的地方。如果能取长补短，那么天下就没有不能被录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用的人；苛求短处放弃长处，那么天下就没有可以被录用的人。再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加上感情有爱恨之分，志趣有所不同，如果圣明得像伊尹、周文王，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贤德像墨翟、杨朱，以众人的议论去要求他们，谁能避免被讥笑？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从前子贡向孔子提问：“全乡村的人都赞扬他，怎么样？”孔子说：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“不能肯定。”“全乡村的人都讨厌他，怎么样？“孔子说：“不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能肯定。不如全乡人中的好人喜欢他，坏人厌恶他。”原来是因为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君子和小人行事必定不同，就好像小人讨厌君子，也像君子讨厌小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人，要认真调查清楚实情，（关键）在于慎重地选择听信（的人）。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听有道德的人的话那么没道德的人的品行就会废除，听没道德的人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的话那么有道德的人的品行就会消失。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WFiZGU2NDc3OWFlNTkwZDU4NTNmZjUyOGMwNTZjMDAifQ=="/>
  <p:tag name="KSO_WPP_MARK_KEY" val="c1340003-a797-4986-931f-67a0abcba54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1357</Words>
  <Application>WPS 演示</Application>
  <PresentationFormat>宽屏</PresentationFormat>
  <Paragraphs>54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陆贽论人才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丁大侠</cp:lastModifiedBy>
  <cp:revision>10</cp:revision>
  <dcterms:created xsi:type="dcterms:W3CDTF">2022-12-04T06:53:00Z</dcterms:created>
  <dcterms:modified xsi:type="dcterms:W3CDTF">2022-12-07T05:30:20Z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D2F8E132F6944DC0A2C98FF2A2E97046</vt:lpwstr>
  </property>
  <property fmtid="{D5CDD505-2E9C-101B-9397-08002B2CF9AE}" pid="3" name="KSOProductBuildVer">
    <vt:lpwstr>2052-11.1.0.12763</vt:lpwstr>
  </property>
</Properties>
</file>